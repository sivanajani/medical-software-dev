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181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>
            <a:extLst>
              <a:ext uri="{FF2B5EF4-FFF2-40B4-BE49-F238E27FC236}">
                <a16:creationId xmlns:a16="http://schemas.microsoft.com/office/drawing/2014/main" id="{737C333C-CE06-71AA-2468-82EE8D0A96CD}"/>
              </a:ext>
            </a:extLst>
          </p:cNvPr>
          <p:cNvSpPr/>
          <p:nvPr/>
        </p:nvSpPr>
        <p:spPr>
          <a:xfrm>
            <a:off x="1047750" y="457200"/>
            <a:ext cx="69329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Analytics Task - Digital Biomarker Scientific Question</a:t>
            </a:r>
            <a:endParaRPr lang="en-US" sz="1800" dirty="0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DB68C7F0-D0A2-F9B8-0552-CB45FA9396BC}"/>
              </a:ext>
            </a:extLst>
          </p:cNvPr>
          <p:cNvSpPr/>
          <p:nvPr/>
        </p:nvSpPr>
        <p:spPr>
          <a:xfrm>
            <a:off x="8045500" y="618083"/>
            <a:ext cx="7807672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D7C70557-0451-BF21-B6F3-E92169760845}"/>
              </a:ext>
            </a:extLst>
          </p:cNvPr>
          <p:cNvSpPr/>
          <p:nvPr/>
        </p:nvSpPr>
        <p:spPr>
          <a:xfrm>
            <a:off x="16119872" y="457200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1FECF522-C6BC-B19D-C4FE-E007968FB620}"/>
              </a:ext>
            </a:extLst>
          </p:cNvPr>
          <p:cNvSpPr/>
          <p:nvPr/>
        </p:nvSpPr>
        <p:spPr>
          <a:xfrm>
            <a:off x="1047750" y="1529804"/>
            <a:ext cx="343345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5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C2350093-A64F-D232-9CDE-04087EAC348F}"/>
              </a:ext>
            </a:extLst>
          </p:cNvPr>
          <p:cNvSpPr/>
          <p:nvPr/>
        </p:nvSpPr>
        <p:spPr>
          <a:xfrm>
            <a:off x="8077051" y="1485900"/>
            <a:ext cx="76214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1.0</a:t>
            </a:r>
            <a:endParaRPr lang="en-US" sz="180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BD873EBA-4D7E-1751-A92F-4FAACC23E4F6}"/>
              </a:ext>
            </a:extLst>
          </p:cNvPr>
          <p:cNvSpPr/>
          <p:nvPr/>
        </p:nvSpPr>
        <p:spPr>
          <a:xfrm>
            <a:off x="1047750" y="2318445"/>
            <a:ext cx="7946708" cy="310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kern="0" spc="-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consumer smartphone's built-in accelerometer reliably detect the characteristic </a:t>
            </a:r>
            <a:r>
              <a:rPr lang="en-US" sz="4200" i="1" kern="0" spc="-50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 Hz resting tremor </a:t>
            </a:r>
            <a:r>
              <a:rPr lang="en-US" sz="4200" kern="0" spc="-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associated with Parkinson's disease?</a:t>
            </a:r>
            <a:endParaRPr lang="en-US" sz="4200" dirty="0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014F248D-9853-06AD-CA9A-B273D28E7686}"/>
              </a:ext>
            </a:extLst>
          </p:cNvPr>
          <p:cNvSpPr/>
          <p:nvPr/>
        </p:nvSpPr>
        <p:spPr>
          <a:xfrm>
            <a:off x="1047750" y="5956548"/>
            <a:ext cx="7715250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DD4B4F8E-B2EB-E6CC-7C89-071CADF94A16}"/>
              </a:ext>
            </a:extLst>
          </p:cNvPr>
          <p:cNvSpPr/>
          <p:nvPr/>
        </p:nvSpPr>
        <p:spPr>
          <a:xfrm>
            <a:off x="1047750" y="6232773"/>
            <a:ext cx="794670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5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 — WORKING HYPOTHESIS</a:t>
            </a:r>
            <a:endParaRPr lang="en-US" sz="1800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89B0420F-B610-C931-31C9-0EF25906993C}"/>
              </a:ext>
            </a:extLst>
          </p:cNvPr>
          <p:cNvSpPr/>
          <p:nvPr/>
        </p:nvSpPr>
        <p:spPr>
          <a:xfrm>
            <a:off x="1047750" y="6735663"/>
            <a:ext cx="794670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2A2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acceleration magnitude spectrum exhibits a dominant peak inside the 4–6 Hz band when, and only when, parkinsonian tremor is present.</a:t>
            </a:r>
            <a:endParaRPr lang="en-US" sz="2250" dirty="0"/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38E04072-42BD-A7C8-1702-34551B007975}"/>
              </a:ext>
            </a:extLst>
          </p:cNvPr>
          <p:cNvSpPr/>
          <p:nvPr/>
        </p:nvSpPr>
        <p:spPr>
          <a:xfrm>
            <a:off x="9525000" y="2318445"/>
            <a:ext cx="7715250" cy="3580358"/>
          </a:xfrm>
          <a:prstGeom prst="rect">
            <a:avLst/>
          </a:prstGeom>
          <a:solidFill>
            <a:srgbClr val="FAF7EE"/>
          </a:solidFill>
          <a:ln w="9525">
            <a:solidFill>
              <a:srgbClr val="C9C1A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0CA2A6C9-6C1B-E432-912E-B22039FCB0D6}"/>
              </a:ext>
            </a:extLst>
          </p:cNvPr>
          <p:cNvSpPr/>
          <p:nvPr/>
        </p:nvSpPr>
        <p:spPr>
          <a:xfrm>
            <a:off x="9953625" y="2670870"/>
            <a:ext cx="706374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231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1 — TREMOR FREQUENCY TAXONOMY</a:t>
            </a:r>
            <a:endParaRPr lang="en-US" sz="165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1A3F7D0A-D1DA-E16D-4ED5-588E73D7197C}"/>
              </a:ext>
            </a:extLst>
          </p:cNvPr>
          <p:cNvSpPr/>
          <p:nvPr/>
        </p:nvSpPr>
        <p:spPr>
          <a:xfrm>
            <a:off x="9953625" y="3146078"/>
            <a:ext cx="706374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diagnostic band is narrow and well separated from voluntary motion.</a:t>
            </a:r>
            <a:endParaRPr lang="en-US" sz="2250" dirty="0"/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2D616845-8418-7DB0-9BE9-EFFBABC8A6C6}"/>
              </a:ext>
            </a:extLst>
          </p:cNvPr>
          <p:cNvSpPr/>
          <p:nvPr/>
        </p:nvSpPr>
        <p:spPr>
          <a:xfrm>
            <a:off x="12237244" y="4327178"/>
            <a:ext cx="1145232" cy="685800"/>
          </a:xfrm>
          <a:prstGeom prst="rect">
            <a:avLst/>
          </a:prstGeom>
          <a:solidFill>
            <a:srgbClr val="E9C9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3D11ACD4-FD2B-70FF-D7DB-14B63C8280E7}"/>
              </a:ext>
            </a:extLst>
          </p:cNvPr>
          <p:cNvSpPr/>
          <p:nvPr/>
        </p:nvSpPr>
        <p:spPr>
          <a:xfrm>
            <a:off x="12237244" y="4327178"/>
            <a:ext cx="1145232" cy="19050"/>
          </a:xfrm>
          <a:prstGeom prst="rect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BCFF7E06-B91C-9299-8397-D400EE43BBCB}"/>
              </a:ext>
            </a:extLst>
          </p:cNvPr>
          <p:cNvSpPr/>
          <p:nvPr/>
        </p:nvSpPr>
        <p:spPr>
          <a:xfrm>
            <a:off x="11712327" y="4022378"/>
            <a:ext cx="22711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60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4–6 Hz · Parkinson</a:t>
            </a:r>
            <a:endParaRPr lang="en-US" sz="1500" dirty="0"/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18C28DE3-A4A9-284C-6930-D801E4281690}"/>
              </a:ext>
            </a:extLst>
          </p:cNvPr>
          <p:cNvSpPr/>
          <p:nvPr/>
        </p:nvSpPr>
        <p:spPr>
          <a:xfrm>
            <a:off x="9953625" y="5003453"/>
            <a:ext cx="6858000" cy="9525"/>
          </a:xfrm>
          <a:prstGeom prst="rect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53A1B604-FABE-E86E-F569-74BD3A39D13B}"/>
              </a:ext>
            </a:extLst>
          </p:cNvPr>
          <p:cNvSpPr/>
          <p:nvPr/>
        </p:nvSpPr>
        <p:spPr>
          <a:xfrm>
            <a:off x="9953625" y="4917728"/>
            <a:ext cx="9525" cy="95250"/>
          </a:xfrm>
          <a:prstGeom prst="rect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11433402-6BE0-ADA8-6C3F-4320096BFA70}"/>
              </a:ext>
            </a:extLst>
          </p:cNvPr>
          <p:cNvSpPr/>
          <p:nvPr/>
        </p:nvSpPr>
        <p:spPr>
          <a:xfrm>
            <a:off x="9752558" y="5051078"/>
            <a:ext cx="48785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A2F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Hz</a:t>
            </a:r>
            <a:endParaRPr lang="en-US" sz="1350" dirty="0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5773311A-B632-BB9B-F878-58FCDDC5A984}"/>
              </a:ext>
            </a:extLst>
          </p:cNvPr>
          <p:cNvSpPr/>
          <p:nvPr/>
        </p:nvSpPr>
        <p:spPr>
          <a:xfrm>
            <a:off x="11098857" y="4917728"/>
            <a:ext cx="9525" cy="95250"/>
          </a:xfrm>
          <a:prstGeom prst="rect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56AC2776-1C28-B16E-437A-C673605239C0}"/>
              </a:ext>
            </a:extLst>
          </p:cNvPr>
          <p:cNvSpPr/>
          <p:nvPr/>
        </p:nvSpPr>
        <p:spPr>
          <a:xfrm>
            <a:off x="10640616" y="5051078"/>
            <a:ext cx="100220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A2F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Voluntary</a:t>
            </a:r>
            <a:endParaRPr lang="en-US" sz="1350" dirty="0"/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E229E8E0-92EE-B3C4-2252-C5B5A8D22BF5}"/>
              </a:ext>
            </a:extLst>
          </p:cNvPr>
          <p:cNvSpPr/>
          <p:nvPr/>
        </p:nvSpPr>
        <p:spPr>
          <a:xfrm>
            <a:off x="12806511" y="4917728"/>
            <a:ext cx="9525" cy="95250"/>
          </a:xfrm>
          <a:prstGeom prst="rect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38E2C87D-6029-4A93-5C60-BF5112976349}"/>
              </a:ext>
            </a:extLst>
          </p:cNvPr>
          <p:cNvSpPr/>
          <p:nvPr/>
        </p:nvSpPr>
        <p:spPr>
          <a:xfrm>
            <a:off x="12091020" y="5051078"/>
            <a:ext cx="151670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A2F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Resting tremor</a:t>
            </a:r>
            <a:endParaRPr lang="en-US" sz="1350" dirty="0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B9ADAB61-C701-03BA-B27B-74734A1F85F1}"/>
              </a:ext>
            </a:extLst>
          </p:cNvPr>
          <p:cNvSpPr/>
          <p:nvPr/>
        </p:nvSpPr>
        <p:spPr>
          <a:xfrm>
            <a:off x="14527857" y="4917728"/>
            <a:ext cx="9525" cy="95250"/>
          </a:xfrm>
          <a:prstGeom prst="rect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DC1DE7DA-3231-373F-FC88-048C268B8D88}"/>
              </a:ext>
            </a:extLst>
          </p:cNvPr>
          <p:cNvSpPr/>
          <p:nvPr/>
        </p:nvSpPr>
        <p:spPr>
          <a:xfrm>
            <a:off x="14069616" y="5051078"/>
            <a:ext cx="100220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A2F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Essential</a:t>
            </a:r>
            <a:endParaRPr lang="en-US" sz="1350" dirty="0"/>
          </a:p>
        </p:txBody>
      </p:sp>
      <p:sp>
        <p:nvSpPr>
          <p:cNvPr id="72" name="Shape 24">
            <a:extLst>
              <a:ext uri="{FF2B5EF4-FFF2-40B4-BE49-F238E27FC236}">
                <a16:creationId xmlns:a16="http://schemas.microsoft.com/office/drawing/2014/main" id="{0FE78BEE-1700-96E1-1CAE-64E49AF633F7}"/>
              </a:ext>
            </a:extLst>
          </p:cNvPr>
          <p:cNvSpPr/>
          <p:nvPr/>
        </p:nvSpPr>
        <p:spPr>
          <a:xfrm>
            <a:off x="16811625" y="4917728"/>
            <a:ext cx="9525" cy="95250"/>
          </a:xfrm>
          <a:prstGeom prst="rect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2E2D43A7-8AAD-7284-E6BB-64840B3AF48F}"/>
              </a:ext>
            </a:extLst>
          </p:cNvPr>
          <p:cNvSpPr/>
          <p:nvPr/>
        </p:nvSpPr>
        <p:spPr>
          <a:xfrm>
            <a:off x="16559138" y="5051078"/>
            <a:ext cx="59069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A2F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Hz</a:t>
            </a:r>
            <a:endParaRPr lang="en-US" sz="1350" dirty="0"/>
          </a:p>
        </p:txBody>
      </p:sp>
      <p:pic>
        <p:nvPicPr>
          <p:cNvPr id="74" name="Image 0" descr="preencoded.png">
            <a:extLst>
              <a:ext uri="{FF2B5EF4-FFF2-40B4-BE49-F238E27FC236}">
                <a16:creationId xmlns:a16="http://schemas.microsoft.com/office/drawing/2014/main" id="{D135A95F-BF9B-BB77-5FAC-A2DC6C7BD1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47750" y="9410700"/>
            <a:ext cx="1842195" cy="419100"/>
          </a:xfrm>
          <a:prstGeom prst="rect">
            <a:avLst/>
          </a:prstGeom>
        </p:spPr>
      </p:pic>
      <p:sp>
        <p:nvSpPr>
          <p:cNvPr id="75" name="Text 43">
            <a:extLst>
              <a:ext uri="{FF2B5EF4-FFF2-40B4-BE49-F238E27FC236}">
                <a16:creationId xmlns:a16="http://schemas.microsoft.com/office/drawing/2014/main" id="{45BB4561-014E-C963-9D9C-CD0B61FCFCA0}"/>
              </a:ext>
            </a:extLst>
          </p:cNvPr>
          <p:cNvSpPr/>
          <p:nvPr/>
        </p:nvSpPr>
        <p:spPr>
          <a:xfrm>
            <a:off x="10911090" y="9178528"/>
            <a:ext cx="63291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5000"/>
              </a:lnSpc>
              <a:buNone/>
            </a:pPr>
            <a:r>
              <a:rPr lang="en-US" sz="1800" kern="0" spc="72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Software Development · Exercise 10</a:t>
            </a:r>
            <a:endParaRPr lang="en-US" sz="1800" dirty="0"/>
          </a:p>
        </p:txBody>
      </p:sp>
      <p:sp>
        <p:nvSpPr>
          <p:cNvPr id="76" name="Text 44">
            <a:extLst>
              <a:ext uri="{FF2B5EF4-FFF2-40B4-BE49-F238E27FC236}">
                <a16:creationId xmlns:a16="http://schemas.microsoft.com/office/drawing/2014/main" id="{6784C8C5-1221-9165-A4FA-8846840F0429}"/>
              </a:ext>
            </a:extLst>
          </p:cNvPr>
          <p:cNvSpPr/>
          <p:nvPr/>
        </p:nvSpPr>
        <p:spPr>
          <a:xfrm>
            <a:off x="10911090" y="9532739"/>
            <a:ext cx="63291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5000"/>
              </a:lnSpc>
              <a:buNone/>
            </a:pPr>
            <a:r>
              <a:rPr lang="en-US" sz="1800" kern="0" spc="7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FHNW · School of Life Sciences</a:t>
            </a:r>
            <a:endParaRPr lang="en-US" sz="1800" dirty="0"/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952ED00B-E15F-D9F6-8E88-58E6C934145B}"/>
              </a:ext>
            </a:extLst>
          </p:cNvPr>
          <p:cNvSpPr/>
          <p:nvPr/>
        </p:nvSpPr>
        <p:spPr>
          <a:xfrm>
            <a:off x="16121446" y="434763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03</a:t>
            </a:r>
            <a:endParaRPr lang="en-US" sz="1800" dirty="0"/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2E48A5B9-1D92-CD6C-049A-84543E92A0CB}"/>
              </a:ext>
            </a:extLst>
          </p:cNvPr>
          <p:cNvSpPr/>
          <p:nvPr/>
        </p:nvSpPr>
        <p:spPr>
          <a:xfrm>
            <a:off x="16118298" y="754341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F6E7CD54-EC90-6D92-E097-A44DAB55CA51}"/>
              </a:ext>
            </a:extLst>
          </p:cNvPr>
          <p:cNvSpPr/>
          <p:nvPr/>
        </p:nvSpPr>
        <p:spPr>
          <a:xfrm>
            <a:off x="16121446" y="842403"/>
            <a:ext cx="632881" cy="319578"/>
          </a:xfrm>
          <a:prstGeom prst="rect">
            <a:avLst/>
          </a:prstGeom>
          <a:solidFill>
            <a:srgbClr val="F4F1E8"/>
          </a:solidFill>
          <a:ln>
            <a:solidFill>
              <a:srgbClr val="F4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>
            <a:extLst>
              <a:ext uri="{FF2B5EF4-FFF2-40B4-BE49-F238E27FC236}">
                <a16:creationId xmlns:a16="http://schemas.microsoft.com/office/drawing/2014/main" id="{74466747-3908-ADA3-FE34-0C4566674B23}"/>
              </a:ext>
            </a:extLst>
          </p:cNvPr>
          <p:cNvSpPr/>
          <p:nvPr/>
        </p:nvSpPr>
        <p:spPr>
          <a:xfrm>
            <a:off x="1047750" y="457200"/>
            <a:ext cx="69329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>
              <a:lnSpc>
                <a:spcPct val="145000"/>
              </a:lnSpc>
            </a:pPr>
            <a:r>
              <a:rPr lang="en-US" kern="0" spc="7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Analytics Task - Digital Biomarker Scientific Question</a:t>
            </a:r>
            <a:endParaRPr lang="en-US" dirty="0"/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49731264-5ABA-6E05-3ABA-5349214B1736}"/>
              </a:ext>
            </a:extLst>
          </p:cNvPr>
          <p:cNvSpPr/>
          <p:nvPr/>
        </p:nvSpPr>
        <p:spPr>
          <a:xfrm>
            <a:off x="8045500" y="618083"/>
            <a:ext cx="7807672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3376DFD5-BAA6-6F9E-28C6-3472A9E990D7}"/>
              </a:ext>
            </a:extLst>
          </p:cNvPr>
          <p:cNvSpPr/>
          <p:nvPr/>
        </p:nvSpPr>
        <p:spPr>
          <a:xfrm>
            <a:off x="1047750" y="1485900"/>
            <a:ext cx="308486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5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INSTRUMENTATION</a:t>
            </a:r>
            <a:endParaRPr lang="en-US" sz="18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8AD2F83D-4C8E-3271-01E2-26C6D95CCEB9}"/>
              </a:ext>
            </a:extLst>
          </p:cNvPr>
          <p:cNvSpPr/>
          <p:nvPr/>
        </p:nvSpPr>
        <p:spPr>
          <a:xfrm>
            <a:off x="1047750" y="2160240"/>
            <a:ext cx="7549372" cy="2207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kern="0" spc="-8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MEMS accelerometer, </a:t>
            </a:r>
            <a:r>
              <a:rPr lang="en-US" sz="5400" i="1" kern="0" spc="-8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axes</a:t>
            </a:r>
            <a:r>
              <a:rPr lang="en-US" sz="5400" kern="0" spc="-8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 add-ons.</a:t>
            </a:r>
            <a:endParaRPr lang="en-US" sz="54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BEDB8FD8-C2A7-80C4-A31A-1CF8714ED9CA}"/>
              </a:ext>
            </a:extLst>
          </p:cNvPr>
          <p:cNvSpPr/>
          <p:nvPr/>
        </p:nvSpPr>
        <p:spPr>
          <a:xfrm>
            <a:off x="1047750" y="4439947"/>
            <a:ext cx="75493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5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AN ACCELEROMETER?</a:t>
            </a:r>
            <a:endParaRPr lang="en-US" sz="18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EE430269-D0E6-FAFC-137A-7421869F167D}"/>
              </a:ext>
            </a:extLst>
          </p:cNvPr>
          <p:cNvSpPr/>
          <p:nvPr/>
        </p:nvSpPr>
        <p:spPr>
          <a:xfrm>
            <a:off x="1047750" y="5066662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90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9925B3B0-268E-D32A-EEBB-99786EA14598}"/>
              </a:ext>
            </a:extLst>
          </p:cNvPr>
          <p:cNvSpPr/>
          <p:nvPr/>
        </p:nvSpPr>
        <p:spPr>
          <a:xfrm>
            <a:off x="1657350" y="4999987"/>
            <a:ext cx="692148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Prevalence . </a:t>
            </a: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present in every modern smartphone, no extra hardware, no compliance burden.</a:t>
            </a:r>
            <a:endParaRPr lang="en-US" sz="195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B6815611-6258-D966-7995-53AFEA89DA78}"/>
              </a:ext>
            </a:extLst>
          </p:cNvPr>
          <p:cNvSpPr/>
          <p:nvPr/>
        </p:nvSpPr>
        <p:spPr>
          <a:xfrm>
            <a:off x="1047750" y="5994159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90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5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AE4907B5-AF12-208B-6D72-B56F7EC8FDE0}"/>
              </a:ext>
            </a:extLst>
          </p:cNvPr>
          <p:cNvSpPr/>
          <p:nvPr/>
        </p:nvSpPr>
        <p:spPr>
          <a:xfrm>
            <a:off x="1657350" y="5927484"/>
            <a:ext cx="692148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Sensitivity. </a:t>
            </a: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MEMS resolution easily resolves the sub-centimetre displacements of resting tremor.</a:t>
            </a:r>
            <a:endParaRPr lang="en-US" sz="195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57FCE230-2EF7-A8BD-D6AC-315C836B53E0}"/>
              </a:ext>
            </a:extLst>
          </p:cNvPr>
          <p:cNvSpPr/>
          <p:nvPr/>
        </p:nvSpPr>
        <p:spPr>
          <a:xfrm>
            <a:off x="1047750" y="6921656"/>
            <a:ext cx="533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90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50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B9C1B341-BFAB-20DF-7852-1ACF2CBCC038}"/>
              </a:ext>
            </a:extLst>
          </p:cNvPr>
          <p:cNvSpPr/>
          <p:nvPr/>
        </p:nvSpPr>
        <p:spPr>
          <a:xfrm>
            <a:off x="1657350" y="6854981"/>
            <a:ext cx="692148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Validated. </a:t>
            </a: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literature establishes pocket-mounted accelerometry as viable for tremor monitoring.</a:t>
            </a:r>
            <a:endParaRPr lang="en-US" sz="195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93166DEF-A88C-F079-1AE1-0BD2AD689A94}"/>
              </a:ext>
            </a:extLst>
          </p:cNvPr>
          <p:cNvSpPr/>
          <p:nvPr/>
        </p:nvSpPr>
        <p:spPr>
          <a:xfrm>
            <a:off x="9139238" y="1485900"/>
            <a:ext cx="8100864" cy="7570589"/>
          </a:xfrm>
          <a:prstGeom prst="rect">
            <a:avLst/>
          </a:prstGeom>
          <a:solidFill>
            <a:srgbClr val="FAF7EE"/>
          </a:solidFill>
          <a:ln w="9525">
            <a:solidFill>
              <a:srgbClr val="C9C1A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71CDAD39-2E92-69EB-129D-F4DD61DA60F9}"/>
              </a:ext>
            </a:extLst>
          </p:cNvPr>
          <p:cNvSpPr/>
          <p:nvPr/>
        </p:nvSpPr>
        <p:spPr>
          <a:xfrm>
            <a:off x="9625013" y="3313658"/>
            <a:ext cx="7129314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4163F870-EC7A-85E6-3E11-71809B2E5289}"/>
              </a:ext>
            </a:extLst>
          </p:cNvPr>
          <p:cNvSpPr/>
          <p:nvPr/>
        </p:nvSpPr>
        <p:spPr>
          <a:xfrm>
            <a:off x="9625013" y="1914525"/>
            <a:ext cx="46223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210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UNDER TEST</a:t>
            </a:r>
            <a:endParaRPr lang="en-US" sz="1500" dirty="0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13CE79AD-8688-DB7E-AE05-C47D5986698B}"/>
              </a:ext>
            </a:extLst>
          </p:cNvPr>
          <p:cNvSpPr/>
          <p:nvPr/>
        </p:nvSpPr>
        <p:spPr>
          <a:xfrm>
            <a:off x="9625013" y="2305050"/>
            <a:ext cx="46223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Samsung Galaxy S24 Ultra</a:t>
            </a:r>
            <a:endParaRPr lang="en-US" sz="30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B9608CE6-487A-6850-3A9A-5C3EA8DE27DB}"/>
              </a:ext>
            </a:extLst>
          </p:cNvPr>
          <p:cNvSpPr/>
          <p:nvPr/>
        </p:nvSpPr>
        <p:spPr>
          <a:xfrm>
            <a:off x="9625013" y="2800350"/>
            <a:ext cx="4622396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SM-S928B · Android 14</a:t>
            </a:r>
            <a:endParaRPr lang="en-US" sz="165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80B1D384-D744-EF18-5CDF-7390702FD402}"/>
              </a:ext>
            </a:extLst>
          </p:cNvPr>
          <p:cNvSpPr/>
          <p:nvPr/>
        </p:nvSpPr>
        <p:spPr>
          <a:xfrm>
            <a:off x="15580668" y="1914525"/>
            <a:ext cx="1173659" cy="88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5000"/>
              </a:lnSpc>
              <a:buNone/>
            </a:pPr>
            <a:r>
              <a:rPr lang="en-US" sz="1350" kern="0" spc="54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DUT-01 REV 1.0 2025</a:t>
            </a:r>
            <a:endParaRPr lang="en-US" sz="1350" dirty="0"/>
          </a:p>
        </p:txBody>
      </p:sp>
      <p:sp>
        <p:nvSpPr>
          <p:cNvPr id="59" name="Shape 18">
            <a:extLst>
              <a:ext uri="{FF2B5EF4-FFF2-40B4-BE49-F238E27FC236}">
                <a16:creationId xmlns:a16="http://schemas.microsoft.com/office/drawing/2014/main" id="{32EAFF5A-42E2-F181-D208-6F9DCB0C2830}"/>
              </a:ext>
            </a:extLst>
          </p:cNvPr>
          <p:cNvSpPr/>
          <p:nvPr/>
        </p:nvSpPr>
        <p:spPr>
          <a:xfrm>
            <a:off x="9625013" y="4737497"/>
            <a:ext cx="7129314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672AA3C8-AECC-7C02-C2C5-3913E2F26989}"/>
              </a:ext>
            </a:extLst>
          </p:cNvPr>
          <p:cNvSpPr/>
          <p:nvPr/>
        </p:nvSpPr>
        <p:spPr>
          <a:xfrm>
            <a:off x="9625013" y="3723233"/>
            <a:ext cx="2357438" cy="89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12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</a:t>
            </a:r>
            <a:endParaRPr lang="en-US" sz="15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2F378830-C48A-993C-D354-1E3B9721653F}"/>
              </a:ext>
            </a:extLst>
          </p:cNvPr>
          <p:cNvSpPr/>
          <p:nvPr/>
        </p:nvSpPr>
        <p:spPr>
          <a:xfrm>
            <a:off x="11906250" y="3713708"/>
            <a:ext cx="34306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STMicroelectronics LSM6DSV</a:t>
            </a:r>
            <a:endParaRPr lang="en-US" sz="195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220C07BE-5B81-2847-907D-DF3FC9A4454E}"/>
              </a:ext>
            </a:extLst>
          </p:cNvPr>
          <p:cNvSpPr/>
          <p:nvPr/>
        </p:nvSpPr>
        <p:spPr>
          <a:xfrm>
            <a:off x="11906250" y="4064198"/>
            <a:ext cx="4993518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6-axis IMU (accelerometer + gyroscope), non-wake-up mode</a:t>
            </a:r>
            <a:endParaRPr lang="en-US" sz="1425" dirty="0"/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F8564B85-352A-5DC7-C1DC-5EADD0972E01}"/>
              </a:ext>
            </a:extLst>
          </p:cNvPr>
          <p:cNvSpPr/>
          <p:nvPr/>
        </p:nvSpPr>
        <p:spPr>
          <a:xfrm>
            <a:off x="9625013" y="5684193"/>
            <a:ext cx="7129314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1628DC06-8325-1D1C-9412-243E4DB1AB16}"/>
              </a:ext>
            </a:extLst>
          </p:cNvPr>
          <p:cNvSpPr/>
          <p:nvPr/>
        </p:nvSpPr>
        <p:spPr>
          <a:xfrm>
            <a:off x="9625013" y="4918472"/>
            <a:ext cx="2357438" cy="641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12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SAMPLING RATE</a:t>
            </a:r>
            <a:endParaRPr lang="en-US" sz="1500" dirty="0"/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38A9578D-0F77-C2F7-42C4-68944CF9D3B4}"/>
              </a:ext>
            </a:extLst>
          </p:cNvPr>
          <p:cNvSpPr/>
          <p:nvPr/>
        </p:nvSpPr>
        <p:spPr>
          <a:xfrm>
            <a:off x="11906250" y="4913709"/>
            <a:ext cx="10197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116 Hz</a:t>
            </a:r>
            <a:endParaRPr lang="en-US" sz="1950" dirty="0"/>
          </a:p>
        </p:txBody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4844BA71-13C0-C2F7-008F-B953BE72A4AF}"/>
              </a:ext>
            </a:extLst>
          </p:cNvPr>
          <p:cNvSpPr/>
          <p:nvPr/>
        </p:nvSpPr>
        <p:spPr>
          <a:xfrm>
            <a:off x="11906250" y="5264200"/>
            <a:ext cx="499351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Nyquist 58 Hz — well above the 4–6 Hz band of interest</a:t>
            </a:r>
            <a:endParaRPr lang="en-US" sz="1425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A8331DF5-C377-FEAB-6C51-F812E980D1A6}"/>
              </a:ext>
            </a:extLst>
          </p:cNvPr>
          <p:cNvSpPr/>
          <p:nvPr/>
        </p:nvSpPr>
        <p:spPr>
          <a:xfrm>
            <a:off x="9625013" y="5865168"/>
            <a:ext cx="2357438" cy="890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kern="0" spc="12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500" dirty="0"/>
          </a:p>
        </p:txBody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B6AB408E-2A9A-DE2D-9FB1-003E04A68C63}"/>
              </a:ext>
            </a:extLst>
          </p:cNvPr>
          <p:cNvSpPr/>
          <p:nvPr/>
        </p:nvSpPr>
        <p:spPr>
          <a:xfrm>
            <a:off x="11906250" y="5860405"/>
            <a:ext cx="309161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acceleration in m/s²</a:t>
            </a:r>
            <a:endParaRPr lang="en-US" sz="1950" dirty="0"/>
          </a:p>
        </p:txBody>
      </p:sp>
      <p:sp>
        <p:nvSpPr>
          <p:cNvPr id="69" name="Text 28">
            <a:extLst>
              <a:ext uri="{FF2B5EF4-FFF2-40B4-BE49-F238E27FC236}">
                <a16:creationId xmlns:a16="http://schemas.microsoft.com/office/drawing/2014/main" id="{52524F95-6CE2-6655-0F37-934FFEF47E0C}"/>
              </a:ext>
            </a:extLst>
          </p:cNvPr>
          <p:cNvSpPr/>
          <p:nvPr/>
        </p:nvSpPr>
        <p:spPr>
          <a:xfrm>
            <a:off x="11906250" y="6210895"/>
            <a:ext cx="4993518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orthogonal body-fixed axes (X, Y, Z); gravity included, removed in pre-processing</a:t>
            </a:r>
            <a:endParaRPr lang="en-US" sz="1425" dirty="0"/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B66BC197-6EA6-B25F-501C-C60BCC263207}"/>
              </a:ext>
            </a:extLst>
          </p:cNvPr>
          <p:cNvSpPr/>
          <p:nvPr/>
        </p:nvSpPr>
        <p:spPr>
          <a:xfrm>
            <a:off x="9625013" y="6927056"/>
            <a:ext cx="7129314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5AF1E8FC-74DD-1F96-E2D2-E8035A258E9E}"/>
              </a:ext>
            </a:extLst>
          </p:cNvPr>
          <p:cNvSpPr/>
          <p:nvPr/>
        </p:nvSpPr>
        <p:spPr>
          <a:xfrm>
            <a:off x="9625013" y="7146131"/>
            <a:ext cx="2274838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· LATERAL</a:t>
            </a:r>
            <a:endParaRPr lang="en-US" sz="1650" dirty="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29861F66-9B3D-C7B8-CB32-5C41E4106208}"/>
              </a:ext>
            </a:extLst>
          </p:cNvPr>
          <p:cNvSpPr/>
          <p:nvPr/>
        </p:nvSpPr>
        <p:spPr>
          <a:xfrm>
            <a:off x="9625013" y="7507039"/>
            <a:ext cx="2274838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2A2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Side-to-side acceleration of the device chassis.</a:t>
            </a:r>
            <a:endParaRPr lang="en-US" sz="1650" dirty="0"/>
          </a:p>
        </p:txBody>
      </p:sp>
      <p:sp>
        <p:nvSpPr>
          <p:cNvPr id="73" name="Text 32">
            <a:extLst>
              <a:ext uri="{FF2B5EF4-FFF2-40B4-BE49-F238E27FC236}">
                <a16:creationId xmlns:a16="http://schemas.microsoft.com/office/drawing/2014/main" id="{DCB9D225-1EFB-DE9D-E3FE-27107B66B572}"/>
              </a:ext>
            </a:extLst>
          </p:cNvPr>
          <p:cNvSpPr/>
          <p:nvPr/>
        </p:nvSpPr>
        <p:spPr>
          <a:xfrm>
            <a:off x="12090350" y="7146131"/>
            <a:ext cx="2274838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· LONGITUDINAL</a:t>
            </a:r>
            <a:endParaRPr lang="en-US" sz="1650" dirty="0"/>
          </a:p>
        </p:txBody>
      </p:sp>
      <p:sp>
        <p:nvSpPr>
          <p:cNvPr id="74" name="Text 33">
            <a:extLst>
              <a:ext uri="{FF2B5EF4-FFF2-40B4-BE49-F238E27FC236}">
                <a16:creationId xmlns:a16="http://schemas.microsoft.com/office/drawing/2014/main" id="{17DB25C3-9EA7-8D46-BD80-4AA1839C37AE}"/>
              </a:ext>
            </a:extLst>
          </p:cNvPr>
          <p:cNvSpPr/>
          <p:nvPr/>
        </p:nvSpPr>
        <p:spPr>
          <a:xfrm>
            <a:off x="12090350" y="7507039"/>
            <a:ext cx="2274838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2A2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Along the phone's long edge — gravity-aligned in portrait.</a:t>
            </a:r>
            <a:endParaRPr lang="en-US" sz="1650" dirty="0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AD17D1D1-D26D-1814-5420-0C6D1CE97DEB}"/>
              </a:ext>
            </a:extLst>
          </p:cNvPr>
          <p:cNvSpPr/>
          <p:nvPr/>
        </p:nvSpPr>
        <p:spPr>
          <a:xfrm>
            <a:off x="14791660" y="7146131"/>
            <a:ext cx="2274838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· NORMAL</a:t>
            </a:r>
            <a:endParaRPr lang="en-US" sz="1650" dirty="0"/>
          </a:p>
        </p:txBody>
      </p:sp>
      <p:sp>
        <p:nvSpPr>
          <p:cNvPr id="76" name="Text 35">
            <a:extLst>
              <a:ext uri="{FF2B5EF4-FFF2-40B4-BE49-F238E27FC236}">
                <a16:creationId xmlns:a16="http://schemas.microsoft.com/office/drawing/2014/main" id="{9043035F-F611-2D8F-63D9-55AE5386FA9A}"/>
              </a:ext>
            </a:extLst>
          </p:cNvPr>
          <p:cNvSpPr/>
          <p:nvPr/>
        </p:nvSpPr>
        <p:spPr>
          <a:xfrm>
            <a:off x="14791660" y="7507039"/>
            <a:ext cx="1990122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2A2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Perpendicular to the screen — pocket-facing axis.</a:t>
            </a:r>
            <a:endParaRPr lang="en-US" sz="1650" dirty="0"/>
          </a:p>
        </p:txBody>
      </p:sp>
      <p:pic>
        <p:nvPicPr>
          <p:cNvPr id="77" name="Image 0" descr="preencoded.png">
            <a:extLst>
              <a:ext uri="{FF2B5EF4-FFF2-40B4-BE49-F238E27FC236}">
                <a16:creationId xmlns:a16="http://schemas.microsoft.com/office/drawing/2014/main" id="{1374D3A7-300E-72A1-6447-CC096DAE13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47750" y="9467850"/>
            <a:ext cx="1842195" cy="419100"/>
          </a:xfrm>
          <a:prstGeom prst="rect">
            <a:avLst/>
          </a:prstGeom>
        </p:spPr>
      </p:pic>
      <p:sp>
        <p:nvSpPr>
          <p:cNvPr id="78" name="Text 36">
            <a:extLst>
              <a:ext uri="{FF2B5EF4-FFF2-40B4-BE49-F238E27FC236}">
                <a16:creationId xmlns:a16="http://schemas.microsoft.com/office/drawing/2014/main" id="{7DFB1B1E-5E26-C7B3-DB47-F3221CD62594}"/>
              </a:ext>
            </a:extLst>
          </p:cNvPr>
          <p:cNvSpPr/>
          <p:nvPr/>
        </p:nvSpPr>
        <p:spPr>
          <a:xfrm>
            <a:off x="10911090" y="9178528"/>
            <a:ext cx="63291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5000"/>
              </a:lnSpc>
              <a:buNone/>
            </a:pPr>
            <a:r>
              <a:rPr lang="en-US" sz="1800" kern="0" spc="72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Software Development · Exercise 10</a:t>
            </a:r>
            <a:endParaRPr lang="en-US" sz="1800" dirty="0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B267EF75-1CD4-CD91-39EE-2236C103ECF0}"/>
              </a:ext>
            </a:extLst>
          </p:cNvPr>
          <p:cNvSpPr/>
          <p:nvPr/>
        </p:nvSpPr>
        <p:spPr>
          <a:xfrm>
            <a:off x="10911090" y="9532739"/>
            <a:ext cx="63291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5000"/>
              </a:lnSpc>
              <a:buNone/>
            </a:pPr>
            <a:r>
              <a:rPr lang="en-US" sz="1800" kern="0" spc="7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FHNW · School of Life Sciences</a:t>
            </a:r>
            <a:endParaRPr lang="en-US" sz="1800" dirty="0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37A909B1-AF98-1E65-3D3B-F595749991AB}"/>
              </a:ext>
            </a:extLst>
          </p:cNvPr>
          <p:cNvSpPr/>
          <p:nvPr/>
        </p:nvSpPr>
        <p:spPr>
          <a:xfrm>
            <a:off x="16119872" y="457200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81" name="Text 2">
            <a:extLst>
              <a:ext uri="{FF2B5EF4-FFF2-40B4-BE49-F238E27FC236}">
                <a16:creationId xmlns:a16="http://schemas.microsoft.com/office/drawing/2014/main" id="{39E382AD-336D-8F63-735D-D5BE1925965A}"/>
              </a:ext>
            </a:extLst>
          </p:cNvPr>
          <p:cNvSpPr/>
          <p:nvPr/>
        </p:nvSpPr>
        <p:spPr>
          <a:xfrm>
            <a:off x="16121446" y="434763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03</a:t>
            </a:r>
            <a:endParaRPr lang="en-US" sz="180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ABB054DA-23CE-3F29-35B2-E40338251421}"/>
              </a:ext>
            </a:extLst>
          </p:cNvPr>
          <p:cNvSpPr/>
          <p:nvPr/>
        </p:nvSpPr>
        <p:spPr>
          <a:xfrm>
            <a:off x="16118298" y="176167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690FA699-4836-F749-4327-6ABA772626CB}"/>
              </a:ext>
            </a:extLst>
          </p:cNvPr>
          <p:cNvSpPr/>
          <p:nvPr/>
        </p:nvSpPr>
        <p:spPr>
          <a:xfrm>
            <a:off x="16121446" y="176167"/>
            <a:ext cx="632881" cy="281033"/>
          </a:xfrm>
          <a:prstGeom prst="rect">
            <a:avLst/>
          </a:prstGeom>
          <a:solidFill>
            <a:srgbClr val="F4F1E8"/>
          </a:solidFill>
          <a:ln>
            <a:solidFill>
              <a:srgbClr val="F4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6A432D47-4246-9AAE-3D32-054FF352B389}"/>
              </a:ext>
            </a:extLst>
          </p:cNvPr>
          <p:cNvSpPr/>
          <p:nvPr/>
        </p:nvSpPr>
        <p:spPr>
          <a:xfrm>
            <a:off x="16119872" y="723900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0471B074-D2D6-BDF5-A7B4-5C0F0A12E9ED}"/>
              </a:ext>
            </a:extLst>
          </p:cNvPr>
          <p:cNvSpPr/>
          <p:nvPr/>
        </p:nvSpPr>
        <p:spPr>
          <a:xfrm>
            <a:off x="16083706" y="821932"/>
            <a:ext cx="632881" cy="281033"/>
          </a:xfrm>
          <a:prstGeom prst="rect">
            <a:avLst/>
          </a:prstGeom>
          <a:solidFill>
            <a:srgbClr val="F4F1E8"/>
          </a:solidFill>
          <a:ln>
            <a:solidFill>
              <a:srgbClr val="F4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>
            <a:extLst>
              <a:ext uri="{FF2B5EF4-FFF2-40B4-BE49-F238E27FC236}">
                <a16:creationId xmlns:a16="http://schemas.microsoft.com/office/drawing/2014/main" id="{51FF4A99-9946-C62D-A588-719E9083F3A1}"/>
              </a:ext>
            </a:extLst>
          </p:cNvPr>
          <p:cNvSpPr/>
          <p:nvPr/>
        </p:nvSpPr>
        <p:spPr>
          <a:xfrm>
            <a:off x="1047750" y="457200"/>
            <a:ext cx="69329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>
              <a:lnSpc>
                <a:spcPct val="145000"/>
              </a:lnSpc>
            </a:pPr>
            <a:r>
              <a:rPr lang="en-US" kern="0" spc="7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Analytics Task - Digital Biomarker Scientific Question</a:t>
            </a:r>
            <a:endParaRPr lang="en-US" dirty="0"/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0647C285-706A-6702-3072-1E1596F5ECF3}"/>
              </a:ext>
            </a:extLst>
          </p:cNvPr>
          <p:cNvSpPr/>
          <p:nvPr/>
        </p:nvSpPr>
        <p:spPr>
          <a:xfrm>
            <a:off x="8045500" y="618083"/>
            <a:ext cx="7807672" cy="9525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8D4CCF6C-635A-A8B3-A913-0808E5E57349}"/>
              </a:ext>
            </a:extLst>
          </p:cNvPr>
          <p:cNvSpPr/>
          <p:nvPr/>
        </p:nvSpPr>
        <p:spPr>
          <a:xfrm>
            <a:off x="1047750" y="1485900"/>
            <a:ext cx="36077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5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&amp; RESULT</a:t>
            </a:r>
            <a:endParaRPr lang="en-US" sz="18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3B0038A6-D7BC-F674-7F90-759D198E9FDE}"/>
              </a:ext>
            </a:extLst>
          </p:cNvPr>
          <p:cNvSpPr/>
          <p:nvPr/>
        </p:nvSpPr>
        <p:spPr>
          <a:xfrm>
            <a:off x="1047750" y="2064990"/>
            <a:ext cx="568441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kern="0" spc="-65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time series to a </a:t>
            </a:r>
            <a:r>
              <a:rPr lang="en-US" sz="4350" i="1" kern="0" spc="-65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verdict.</a:t>
            </a:r>
            <a:endParaRPr lang="en-US" sz="4350" dirty="0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E3BEC8B8-E095-2C63-BEE3-0471AA7CE353}"/>
              </a:ext>
            </a:extLst>
          </p:cNvPr>
          <p:cNvSpPr/>
          <p:nvPr/>
        </p:nvSpPr>
        <p:spPr>
          <a:xfrm>
            <a:off x="1047750" y="3567857"/>
            <a:ext cx="609600" cy="19050"/>
          </a:xfrm>
          <a:prstGeom prst="rect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E5B174F-7808-E56E-F813-87D89008B3F1}"/>
              </a:ext>
            </a:extLst>
          </p:cNvPr>
          <p:cNvSpPr/>
          <p:nvPr/>
        </p:nvSpPr>
        <p:spPr>
          <a:xfrm>
            <a:off x="1047750" y="3663107"/>
            <a:ext cx="685800" cy="626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DA3E4EF6-01AB-9AF6-DBF3-72B59539B975}"/>
              </a:ext>
            </a:extLst>
          </p:cNvPr>
          <p:cNvSpPr/>
          <p:nvPr/>
        </p:nvSpPr>
        <p:spPr>
          <a:xfrm>
            <a:off x="1828800" y="3567857"/>
            <a:ext cx="4737795" cy="19050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5D1CA897-AE90-1270-9D1C-8BC481AA1937}"/>
              </a:ext>
            </a:extLst>
          </p:cNvPr>
          <p:cNvSpPr/>
          <p:nvPr/>
        </p:nvSpPr>
        <p:spPr>
          <a:xfrm>
            <a:off x="1828800" y="3663107"/>
            <a:ext cx="487992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 X / Y / Z</a:t>
            </a:r>
            <a:endParaRPr lang="en-US" sz="195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E503ECA1-7400-09B0-4AAB-74ED48F22CAE}"/>
              </a:ext>
            </a:extLst>
          </p:cNvPr>
          <p:cNvSpPr/>
          <p:nvPr/>
        </p:nvSpPr>
        <p:spPr>
          <a:xfrm>
            <a:off x="1828800" y="3998268"/>
            <a:ext cx="487992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3-axis recording at ~116 Hz, ≈ 420 samples (3.6 s).</a:t>
            </a:r>
            <a:endParaRPr lang="en-US" sz="1425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1B52A58F-4A1B-A820-FA91-F408B73B4B08}"/>
              </a:ext>
            </a:extLst>
          </p:cNvPr>
          <p:cNvSpPr/>
          <p:nvPr/>
        </p:nvSpPr>
        <p:spPr>
          <a:xfrm>
            <a:off x="1047750" y="4423023"/>
            <a:ext cx="609600" cy="19050"/>
          </a:xfrm>
          <a:prstGeom prst="rect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380DD230-6CF2-24DB-1652-4A973EB18992}"/>
              </a:ext>
            </a:extLst>
          </p:cNvPr>
          <p:cNvSpPr/>
          <p:nvPr/>
        </p:nvSpPr>
        <p:spPr>
          <a:xfrm>
            <a:off x="1047750" y="4518273"/>
            <a:ext cx="685800" cy="626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92E96C13-4ECC-E1F2-5703-2B37489A7FF7}"/>
              </a:ext>
            </a:extLst>
          </p:cNvPr>
          <p:cNvSpPr/>
          <p:nvPr/>
        </p:nvSpPr>
        <p:spPr>
          <a:xfrm>
            <a:off x="1828800" y="4423023"/>
            <a:ext cx="4737795" cy="19050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7ED0FA4B-9EE4-F9B6-DEBC-26DBE1F5CE51}"/>
              </a:ext>
            </a:extLst>
          </p:cNvPr>
          <p:cNvSpPr/>
          <p:nvPr/>
        </p:nvSpPr>
        <p:spPr>
          <a:xfrm>
            <a:off x="1828800" y="4518273"/>
            <a:ext cx="487992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Magnitude &amp; detrend</a:t>
            </a:r>
            <a:endParaRPr lang="en-US" sz="195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A5C4F1CB-5871-A196-C4E4-346C3F285D81}"/>
              </a:ext>
            </a:extLst>
          </p:cNvPr>
          <p:cNvSpPr/>
          <p:nvPr/>
        </p:nvSpPr>
        <p:spPr>
          <a:xfrm>
            <a:off x="1828800" y="4853434"/>
            <a:ext cx="487992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‖a‖ = √(x² + y² + z²); subtract running mean.</a:t>
            </a:r>
            <a:endParaRPr lang="en-US" sz="1425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92FE8795-CF55-E960-BE3E-75692B4BF3E2}"/>
              </a:ext>
            </a:extLst>
          </p:cNvPr>
          <p:cNvSpPr/>
          <p:nvPr/>
        </p:nvSpPr>
        <p:spPr>
          <a:xfrm>
            <a:off x="1047750" y="5278189"/>
            <a:ext cx="609600" cy="19050"/>
          </a:xfrm>
          <a:prstGeom prst="rect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EE98312E-3D49-3C26-7F81-C2A6C94949E9}"/>
              </a:ext>
            </a:extLst>
          </p:cNvPr>
          <p:cNvSpPr/>
          <p:nvPr/>
        </p:nvSpPr>
        <p:spPr>
          <a:xfrm>
            <a:off x="1047750" y="5373439"/>
            <a:ext cx="685800" cy="626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4A87C17C-270C-150C-32AC-84615F0D6CCB}"/>
              </a:ext>
            </a:extLst>
          </p:cNvPr>
          <p:cNvSpPr/>
          <p:nvPr/>
        </p:nvSpPr>
        <p:spPr>
          <a:xfrm>
            <a:off x="1828800" y="5278189"/>
            <a:ext cx="4737795" cy="19050"/>
          </a:xfrm>
          <a:prstGeom prst="rect">
            <a:avLst/>
          </a:prstGeom>
          <a:solidFill>
            <a:srgbClr val="C9C1A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98B306F7-BB86-C9F3-2445-C52614B0EA92}"/>
              </a:ext>
            </a:extLst>
          </p:cNvPr>
          <p:cNvSpPr/>
          <p:nvPr/>
        </p:nvSpPr>
        <p:spPr>
          <a:xfrm>
            <a:off x="1828800" y="5373439"/>
            <a:ext cx="487992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FFT spectrum</a:t>
            </a:r>
            <a:endParaRPr lang="en-US" sz="195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FB9DD403-6B85-ACC9-7B79-39927658CB31}"/>
              </a:ext>
            </a:extLst>
          </p:cNvPr>
          <p:cNvSpPr/>
          <p:nvPr/>
        </p:nvSpPr>
        <p:spPr>
          <a:xfrm>
            <a:off x="1828800" y="5708600"/>
            <a:ext cx="487992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of detrended magnitude; inspect 4–6 Hz band.</a:t>
            </a:r>
            <a:endParaRPr lang="en-US" sz="1425" dirty="0"/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D2120B01-3F2D-B6D4-F86E-BA9FE1D91E55}"/>
              </a:ext>
            </a:extLst>
          </p:cNvPr>
          <p:cNvSpPr/>
          <p:nvPr/>
        </p:nvSpPr>
        <p:spPr>
          <a:xfrm>
            <a:off x="1047750" y="6266706"/>
            <a:ext cx="5518845" cy="19050"/>
          </a:xfrm>
          <a:prstGeom prst="rect">
            <a:avLst/>
          </a:prstGeom>
          <a:solidFill>
            <a:srgbClr val="14171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82F33B36-CFA8-422F-1EBE-0A2B027632EC}"/>
              </a:ext>
            </a:extLst>
          </p:cNvPr>
          <p:cNvSpPr/>
          <p:nvPr/>
        </p:nvSpPr>
        <p:spPr>
          <a:xfrm>
            <a:off x="1047750" y="6495306"/>
            <a:ext cx="568441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89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· HEALTHY SUBJECT</a:t>
            </a:r>
            <a:endParaRPr lang="en-US" sz="135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3E1B3933-BCEB-0805-8002-2228BBC18788}"/>
              </a:ext>
            </a:extLst>
          </p:cNvPr>
          <p:cNvSpPr/>
          <p:nvPr/>
        </p:nvSpPr>
        <p:spPr>
          <a:xfrm>
            <a:off x="1047750" y="6800999"/>
            <a:ext cx="56844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i="1" kern="0" spc="-22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tremor detected</a:t>
            </a:r>
            <a:endParaRPr lang="en-US" sz="2250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B22D7B7A-C718-D4C5-A47C-09273E4263C3}"/>
              </a:ext>
            </a:extLst>
          </p:cNvPr>
          <p:cNvSpPr/>
          <p:nvPr/>
        </p:nvSpPr>
        <p:spPr>
          <a:xfrm>
            <a:off x="1047750" y="7262961"/>
            <a:ext cx="568441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significant peak in 4–6 Hz. Energy concentrates </a:t>
            </a:r>
            <a:r>
              <a:rPr lang="en-US" sz="1800" i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2 Hz </a:t>
            </a:r>
            <a:r>
              <a:rPr lang="en-US" sz="18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consistent with brief voluntary movement rather than parkinsonian oscillation.</a:t>
            </a:r>
            <a:endParaRPr lang="en-US" sz="1800" dirty="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D4907C7B-CC5D-3E05-7A75-B9130CE23CC3}"/>
              </a:ext>
            </a:extLst>
          </p:cNvPr>
          <p:cNvSpPr/>
          <p:nvPr/>
        </p:nvSpPr>
        <p:spPr>
          <a:xfrm>
            <a:off x="7176195" y="1485900"/>
            <a:ext cx="10063907" cy="3939480"/>
          </a:xfrm>
          <a:prstGeom prst="rect">
            <a:avLst/>
          </a:prstGeom>
          <a:solidFill>
            <a:srgbClr val="FAF7EE"/>
          </a:solidFill>
          <a:ln w="9525">
            <a:solidFill>
              <a:srgbClr val="C9C1A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48118CEB-11F8-12EF-10B5-C28922069384}"/>
              </a:ext>
            </a:extLst>
          </p:cNvPr>
          <p:cNvSpPr/>
          <p:nvPr/>
        </p:nvSpPr>
        <p:spPr>
          <a:xfrm>
            <a:off x="7414320" y="1666875"/>
            <a:ext cx="4760207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Fig. 2 — Raw 3-axis acceleration over time</a:t>
            </a:r>
            <a:endParaRPr lang="en-US" sz="195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176EA7C4-E0B3-E710-CEC1-83CE5AC0F9FF}"/>
              </a:ext>
            </a:extLst>
          </p:cNvPr>
          <p:cNvSpPr/>
          <p:nvPr/>
        </p:nvSpPr>
        <p:spPr>
          <a:xfrm>
            <a:off x="15643771" y="1752600"/>
            <a:ext cx="143440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DOMAIN</a:t>
            </a:r>
            <a:endParaRPr lang="en-US" sz="135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F7FFE2B0-4866-C493-36C3-93EEAB681EF3}"/>
              </a:ext>
            </a:extLst>
          </p:cNvPr>
          <p:cNvSpPr/>
          <p:nvPr/>
        </p:nvSpPr>
        <p:spPr>
          <a:xfrm>
            <a:off x="7414320" y="2140148"/>
            <a:ext cx="9587657" cy="3066157"/>
          </a:xfrm>
          <a:prstGeom prst="rect">
            <a:avLst/>
          </a:prstGeom>
          <a:solidFill>
            <a:srgbClr val="FFFFFF"/>
          </a:solidFill>
          <a:ln w="9525">
            <a:solidFill>
              <a:srgbClr val="C9C1A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67" name="Image 0" descr="preencoded.png">
            <a:extLst>
              <a:ext uri="{FF2B5EF4-FFF2-40B4-BE49-F238E27FC236}">
                <a16:creationId xmlns:a16="http://schemas.microsoft.com/office/drawing/2014/main" id="{81362161-EB47-A418-D7E2-23D1D870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3845" y="2149673"/>
            <a:ext cx="9568607" cy="3047107"/>
          </a:xfrm>
          <a:prstGeom prst="rect">
            <a:avLst/>
          </a:prstGeom>
        </p:spPr>
      </p:pic>
      <p:sp>
        <p:nvSpPr>
          <p:cNvPr id="68" name="Shape 28">
            <a:extLst>
              <a:ext uri="{FF2B5EF4-FFF2-40B4-BE49-F238E27FC236}">
                <a16:creationId xmlns:a16="http://schemas.microsoft.com/office/drawing/2014/main" id="{E1D50C87-CDCF-3FDC-4F46-ED930AF88D40}"/>
              </a:ext>
            </a:extLst>
          </p:cNvPr>
          <p:cNvSpPr/>
          <p:nvPr/>
        </p:nvSpPr>
        <p:spPr>
          <a:xfrm>
            <a:off x="7176195" y="5634930"/>
            <a:ext cx="10063907" cy="3223320"/>
          </a:xfrm>
          <a:prstGeom prst="rect">
            <a:avLst/>
          </a:prstGeom>
          <a:solidFill>
            <a:srgbClr val="FAF7EE"/>
          </a:solidFill>
          <a:ln w="9525">
            <a:solidFill>
              <a:srgbClr val="C9C1A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2D6F9A6F-A89E-EB10-7CC1-58ADCAE440AC}"/>
              </a:ext>
            </a:extLst>
          </p:cNvPr>
          <p:cNvSpPr/>
          <p:nvPr/>
        </p:nvSpPr>
        <p:spPr>
          <a:xfrm>
            <a:off x="7414320" y="5815905"/>
            <a:ext cx="580474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Fig. 3 — FFT spectrum, Parkinson band highlighted</a:t>
            </a:r>
            <a:endParaRPr lang="en-US" sz="1950" dirty="0"/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99774072-45A8-F7F9-8B13-332D8E2593CB}"/>
              </a:ext>
            </a:extLst>
          </p:cNvPr>
          <p:cNvSpPr/>
          <p:nvPr/>
        </p:nvSpPr>
        <p:spPr>
          <a:xfrm>
            <a:off x="14779675" y="5901630"/>
            <a:ext cx="229850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kern="0" spc="16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 · RESULT</a:t>
            </a:r>
            <a:endParaRPr lang="en-US" sz="1350" dirty="0"/>
          </a:p>
        </p:txBody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5A460781-85FA-FFAC-D80D-6073464BBA35}"/>
              </a:ext>
            </a:extLst>
          </p:cNvPr>
          <p:cNvSpPr/>
          <p:nvPr/>
        </p:nvSpPr>
        <p:spPr>
          <a:xfrm>
            <a:off x="7414320" y="6289179"/>
            <a:ext cx="9587657" cy="23499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1A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72" name="Image 1" descr="preencoded.png">
            <a:extLst>
              <a:ext uri="{FF2B5EF4-FFF2-40B4-BE49-F238E27FC236}">
                <a16:creationId xmlns:a16="http://schemas.microsoft.com/office/drawing/2014/main" id="{0D56F937-6625-9EBC-180A-C10AFADD92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3845" y="6298704"/>
            <a:ext cx="9568607" cy="2330946"/>
          </a:xfrm>
          <a:prstGeom prst="rect">
            <a:avLst/>
          </a:prstGeom>
        </p:spPr>
      </p:pic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9BAFA156-A5C2-DFAF-6679-AC8ECE0E983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047750" y="9467850"/>
            <a:ext cx="1842195" cy="419100"/>
          </a:xfrm>
          <a:prstGeom prst="rect">
            <a:avLst/>
          </a:prstGeom>
        </p:spPr>
      </p:pic>
      <p:sp>
        <p:nvSpPr>
          <p:cNvPr id="74" name="Text 32">
            <a:extLst>
              <a:ext uri="{FF2B5EF4-FFF2-40B4-BE49-F238E27FC236}">
                <a16:creationId xmlns:a16="http://schemas.microsoft.com/office/drawing/2014/main" id="{CD7E7B03-97C1-0900-8B64-138A6EAEE0C1}"/>
              </a:ext>
            </a:extLst>
          </p:cNvPr>
          <p:cNvSpPr/>
          <p:nvPr/>
        </p:nvSpPr>
        <p:spPr>
          <a:xfrm>
            <a:off x="10911090" y="9178528"/>
            <a:ext cx="63291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5000"/>
              </a:lnSpc>
              <a:buNone/>
            </a:pPr>
            <a:r>
              <a:rPr lang="en-US" sz="1800" kern="0" spc="72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Software Development · Exercise 10</a:t>
            </a:r>
            <a:endParaRPr lang="en-US" sz="1800" dirty="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0CEB294A-6D4C-D37A-8FED-3571E115F8A4}"/>
              </a:ext>
            </a:extLst>
          </p:cNvPr>
          <p:cNvSpPr/>
          <p:nvPr/>
        </p:nvSpPr>
        <p:spPr>
          <a:xfrm>
            <a:off x="10911090" y="9532739"/>
            <a:ext cx="63291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5000"/>
              </a:lnSpc>
              <a:buNone/>
            </a:pPr>
            <a:r>
              <a:rPr lang="en-US" sz="1800" kern="0" spc="72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FHNW · School of Life Sciences</a:t>
            </a:r>
            <a:endParaRPr lang="en-US" sz="1800" dirty="0"/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54325815-367D-1A9D-7897-0F8DC6A6C039}"/>
              </a:ext>
            </a:extLst>
          </p:cNvPr>
          <p:cNvSpPr/>
          <p:nvPr/>
        </p:nvSpPr>
        <p:spPr>
          <a:xfrm>
            <a:off x="16119872" y="445981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D7BCBBB1-D864-A58C-1640-1A8E5EF96390}"/>
              </a:ext>
            </a:extLst>
          </p:cNvPr>
          <p:cNvSpPr/>
          <p:nvPr/>
        </p:nvSpPr>
        <p:spPr>
          <a:xfrm>
            <a:off x="16121446" y="445981"/>
            <a:ext cx="119657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8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03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Microsoft Office PowerPoint</Application>
  <PresentationFormat>Benutzerdefiniert</PresentationFormat>
  <Paragraphs>80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Courier New</vt:lpstr>
      <vt:lpstr>Georgia</vt:lpstr>
      <vt:lpstr>Office Theme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Sivanajani Sivakumar</dc:creator>
  <cp:lastModifiedBy>Sivanajani Sivakumar (s)</cp:lastModifiedBy>
  <cp:revision>5</cp:revision>
  <dcterms:created xsi:type="dcterms:W3CDTF">2026-06-07T19:50:06Z</dcterms:created>
  <dcterms:modified xsi:type="dcterms:W3CDTF">2026-06-07T20:16:41Z</dcterms:modified>
</cp:coreProperties>
</file>